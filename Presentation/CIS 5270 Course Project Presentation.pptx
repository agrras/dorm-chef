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Gill Sans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D0677B-EBC7-42BF-9C1D-BF39B4CC3707}">
  <a:tblStyle styleId="{AAD0677B-EBC7-42BF-9C1D-BF39B4CC3707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7E8"/>
          </a:solidFill>
        </a:fill>
      </a:tcStyle>
    </a:band1H>
    <a:band2H>
      <a:tcTxStyle/>
    </a:band2H>
    <a:band1V>
      <a:tcTxStyle/>
      <a:tcStyle>
        <a:fill>
          <a:solidFill>
            <a:srgbClr val="E6E7E8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Gill Sans MT"/>
          <a:ea typeface="Gill Sans MT"/>
          <a:cs typeface="Gill Sans MT"/>
        </a:font>
        <a:schemeClr val="dk1"/>
      </a:tcTxStyle>
    </a:seCell>
    <a:swCell>
      <a:tcTxStyle b="on" i="off">
        <a:font>
          <a:latin typeface="Gill Sans MT"/>
          <a:ea typeface="Gill Sans MT"/>
          <a:cs typeface="Gill Sans MT"/>
        </a:font>
        <a:schemeClr val="dk1"/>
      </a:tcTx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GillSa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Gill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a4c0b3132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a4c0b313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9a4c0b3132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a4c0b313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a4c0b31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9a4c0b3132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a8e77f9e2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a8e77f9e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a8e77f9e2_0_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a4c0b3132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9a4c0b313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9a4c0b3132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a8e77f9e2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da8e77f9e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Beta controls strength of preference optimization</a:t>
            </a:r>
            <a:endParaRPr/>
          </a:p>
        </p:txBody>
      </p:sp>
      <p:sp>
        <p:nvSpPr>
          <p:cNvPr id="329" name="Google Shape;329;g3da8e77f9e2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a8e77f9e2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a8e77f9e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a8e77f9e2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a8e77f9e2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da8e77f9e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a8e77f9e2_0_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a8e77f9e2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da8e77f9e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DPO: over optimized, learnt wrong 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rejection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signals</a:t>
            </a:r>
            <a:endParaRPr/>
          </a:p>
        </p:txBody>
      </p:sp>
      <p:sp>
        <p:nvSpPr>
          <p:cNvPr id="360" name="Google Shape;360;g3da8e77f9e2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ad5acf094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ad5acf09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dad5acf094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a8e77f9e2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a8e77f9e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da8e77f9e2_0_1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ad5acf094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ad5acf09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Sharper drop in sft and base : 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lose a lot of headroom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when the task stops looking like the trainin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DPO still manages to generlaize well since it explored more. Not a template cloner</a:t>
            </a:r>
            <a:endParaRPr/>
          </a:p>
        </p:txBody>
      </p:sp>
      <p:sp>
        <p:nvSpPr>
          <p:cNvPr id="384" name="Google Shape;384;g3dad5acf094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a8e77f9e2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da8e77f9e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da8e77f9e2_0_1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ad5acf094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ad5acf09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dad5acf094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ad5acf094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ad5acf09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dad5acf094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 Slide">
  <p:cSld name="1_Divider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56445" y="5"/>
            <a:ext cx="9206200" cy="51514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2-line-whitetext-colorshield.png"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5599" y="4296762"/>
            <a:ext cx="1769927" cy="650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 amt="9000"/>
          </a:blip>
          <a:srcRect b="0" l="0" r="0" t="0"/>
          <a:stretch/>
        </p:blipFill>
        <p:spPr>
          <a:xfrm>
            <a:off x="199388" y="151675"/>
            <a:ext cx="3080816" cy="3457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958151" y="3255792"/>
            <a:ext cx="73970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21" name="Google Shape;21;p2"/>
          <p:cNvGrpSpPr/>
          <p:nvPr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22" name="Google Shape;22;p2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" name="Google Shape;28;p3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29" name="Google Shape;29;p3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457200" y="1104904"/>
            <a:ext cx="8082552" cy="348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9" y="0"/>
            <a:ext cx="9143999" cy="5143500"/>
          </a:xfrm>
          <a:prstGeom prst="rect">
            <a:avLst/>
          </a:prstGeom>
          <a:solidFill>
            <a:srgbClr val="D7D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8" name="Google Shape;38;p4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39" name="Google Shape;39;p4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1-line-bluetext-colorshield.png" id="42" name="Google Shape;4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699003"/>
            <a:ext cx="1809092" cy="34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48" name="Google Shape;48;p5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line-bluetext-colorshield.png" id="52" name="Google Shape;52;p6"/>
          <p:cNvPicPr preferRelativeResize="0"/>
          <p:nvPr/>
        </p:nvPicPr>
        <p:blipFill rotWithShape="1">
          <a:blip r:embed="rId2">
            <a:alphaModFix/>
          </a:blip>
          <a:srcRect b="-1906" l="-1" r="-157" t="0"/>
          <a:stretch/>
        </p:blipFill>
        <p:spPr>
          <a:xfrm>
            <a:off x="6585599" y="4296761"/>
            <a:ext cx="1769927" cy="656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ennwatermark.pdf" id="53" name="Google Shape;53;p6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199388" y="136510"/>
            <a:ext cx="3080816" cy="347289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958151" y="3255792"/>
            <a:ext cx="7397039" cy="658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56" name="Google Shape;56;p6"/>
          <p:cNvGrpSpPr/>
          <p:nvPr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57" name="Google Shape;57;p6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60" name="Google Shape;60;p6"/>
          <p:cNvSpPr/>
          <p:nvPr/>
        </p:nvSpPr>
        <p:spPr>
          <a:xfrm>
            <a:off x="254010" y="4572000"/>
            <a:ext cx="2243667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62" name="Google Shape;62;p7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6156" cy="37459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6" name="Google Shape;66;p7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67" name="Google Shape;67;p7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>
            <p:ph idx="2" type="pic"/>
          </p:nvPr>
        </p:nvSpPr>
        <p:spPr>
          <a:xfrm>
            <a:off x="4811889" y="1066670"/>
            <a:ext cx="3874912" cy="3527953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457200" y="106666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8"/>
          <p:cNvSpPr txBox="1"/>
          <p:nvPr>
            <p:ph idx="3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8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8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77" name="Google Shape;77;p8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mparison">
  <p:cSld name="4_Comparis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81" name="Google Shape;81;p9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8896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/>
          <p:nvPr>
            <p:ph idx="2" type="pic"/>
          </p:nvPr>
        </p:nvSpPr>
        <p:spPr>
          <a:xfrm>
            <a:off x="4811889" y="1066670"/>
            <a:ext cx="3874912" cy="352795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457200" y="106666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9"/>
          <p:cNvSpPr txBox="1"/>
          <p:nvPr>
            <p:ph idx="3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9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9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" name="Google Shape;87;p9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88" name="Google Shape;88;p9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457200" y="1104904"/>
            <a:ext cx="4038600" cy="348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3" name="Google Shape;93;p10"/>
          <p:cNvSpPr txBox="1"/>
          <p:nvPr>
            <p:ph idx="2" type="body"/>
          </p:nvPr>
        </p:nvSpPr>
        <p:spPr>
          <a:xfrm>
            <a:off x="4648200" y="1104902"/>
            <a:ext cx="4038600" cy="3489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4" name="Google Shape;94;p10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0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6" name="Google Shape;96;p10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97" name="Google Shape;97;p10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>
            <p:ph idx="1" type="body"/>
          </p:nvPr>
        </p:nvSpPr>
        <p:spPr>
          <a:xfrm>
            <a:off x="457200" y="1067992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11"/>
          <p:cNvSpPr txBox="1"/>
          <p:nvPr>
            <p:ph idx="2" type="body"/>
          </p:nvPr>
        </p:nvSpPr>
        <p:spPr>
          <a:xfrm>
            <a:off x="457200" y="1546495"/>
            <a:ext cx="4040188" cy="304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3" name="Google Shape;103;p11"/>
          <p:cNvSpPr txBox="1"/>
          <p:nvPr>
            <p:ph idx="3" type="body"/>
          </p:nvPr>
        </p:nvSpPr>
        <p:spPr>
          <a:xfrm>
            <a:off x="4645033" y="1066669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11"/>
          <p:cNvSpPr txBox="1"/>
          <p:nvPr>
            <p:ph idx="4" type="body"/>
          </p:nvPr>
        </p:nvSpPr>
        <p:spPr>
          <a:xfrm>
            <a:off x="4645033" y="1546495"/>
            <a:ext cx="4041775" cy="304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1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7" name="Google Shape;107;p11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08" name="Google Shape;108;p11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sidebar">
  <p:cSld name="Content and sideba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body"/>
          </p:nvPr>
        </p:nvSpPr>
        <p:spPr>
          <a:xfrm>
            <a:off x="6142182" y="1782939"/>
            <a:ext cx="254462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body"/>
          </p:nvPr>
        </p:nvSpPr>
        <p:spPr>
          <a:xfrm>
            <a:off x="6142182" y="2310651"/>
            <a:ext cx="2544621" cy="2282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2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6" name="Google Shape;116;p12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17" name="Google Shape;117;p12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" name="Google Shape;118;p12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12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120" name="Google Shape;120;p12"/>
          <p:cNvCxnSpPr/>
          <p:nvPr/>
        </p:nvCxnSpPr>
        <p:spPr>
          <a:xfrm>
            <a:off x="5908842" y="1099992"/>
            <a:ext cx="0" cy="3599013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2"/>
          <p:cNvSpPr txBox="1"/>
          <p:nvPr>
            <p:ph idx="3" type="body"/>
          </p:nvPr>
        </p:nvSpPr>
        <p:spPr>
          <a:xfrm>
            <a:off x="310162" y="148515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body"/>
          </p:nvPr>
        </p:nvSpPr>
        <p:spPr>
          <a:xfrm>
            <a:off x="310162" y="180834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body"/>
          </p:nvPr>
        </p:nvSpPr>
        <p:spPr>
          <a:xfrm>
            <a:off x="310162" y="235369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body"/>
          </p:nvPr>
        </p:nvSpPr>
        <p:spPr>
          <a:xfrm>
            <a:off x="310162" y="267688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body"/>
          </p:nvPr>
        </p:nvSpPr>
        <p:spPr>
          <a:xfrm>
            <a:off x="310162" y="3191895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body"/>
          </p:nvPr>
        </p:nvSpPr>
        <p:spPr>
          <a:xfrm>
            <a:off x="310162" y="351508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body"/>
          </p:nvPr>
        </p:nvSpPr>
        <p:spPr>
          <a:xfrm>
            <a:off x="309033" y="965872"/>
            <a:ext cx="5295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>
                <a:solidFill>
                  <a:srgbClr val="00144D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">
  <p:cSld name="Metric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1" name="Google Shape;131;p13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32" name="Google Shape;132;p13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5" name="Google Shape;135;p13"/>
          <p:cNvSpPr/>
          <p:nvPr/>
        </p:nvSpPr>
        <p:spPr>
          <a:xfrm>
            <a:off x="457210" y="1110136"/>
            <a:ext cx="2198255" cy="10297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457209" y="1110132"/>
            <a:ext cx="2198255" cy="475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37" name="Google Shape;137;p13"/>
          <p:cNvGrpSpPr/>
          <p:nvPr/>
        </p:nvGrpSpPr>
        <p:grpSpPr>
          <a:xfrm>
            <a:off x="457198" y="2210973"/>
            <a:ext cx="3035300" cy="1029799"/>
            <a:chOff x="457198" y="2913323"/>
            <a:chExt cx="3035300" cy="1373065"/>
          </a:xfrm>
        </p:grpSpPr>
        <p:sp>
          <p:nvSpPr>
            <p:cNvPr id="138" name="Google Shape;138;p13"/>
            <p:cNvSpPr/>
            <p:nvPr/>
          </p:nvSpPr>
          <p:spPr>
            <a:xfrm>
              <a:off x="457199" y="2913323"/>
              <a:ext cx="3035299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457198" y="2913323"/>
              <a:ext cx="3035300" cy="6334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457199" y="3303510"/>
            <a:ext cx="8181976" cy="1029799"/>
            <a:chOff x="457199" y="4370039"/>
            <a:chExt cx="8181976" cy="1373065"/>
          </a:xfrm>
        </p:grpSpPr>
        <p:sp>
          <p:nvSpPr>
            <p:cNvPr id="141" name="Google Shape;141;p13"/>
            <p:cNvSpPr/>
            <p:nvPr/>
          </p:nvSpPr>
          <p:spPr>
            <a:xfrm>
              <a:off x="457199" y="4370039"/>
              <a:ext cx="8181976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57199" y="4370039"/>
              <a:ext cx="8181975" cy="6334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2746375" y="1110136"/>
            <a:ext cx="2762250" cy="1029799"/>
            <a:chOff x="2746375" y="1480176"/>
            <a:chExt cx="2762250" cy="1373065"/>
          </a:xfrm>
        </p:grpSpPr>
        <p:sp>
          <p:nvSpPr>
            <p:cNvPr id="144" name="Google Shape;144;p13"/>
            <p:cNvSpPr/>
            <p:nvPr/>
          </p:nvSpPr>
          <p:spPr>
            <a:xfrm>
              <a:off x="2746375" y="1480176"/>
              <a:ext cx="2762250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2746375" y="1480176"/>
              <a:ext cx="2762250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6" name="Google Shape;146;p13"/>
          <p:cNvGrpSpPr/>
          <p:nvPr/>
        </p:nvGrpSpPr>
        <p:grpSpPr>
          <a:xfrm>
            <a:off x="5611092" y="1110136"/>
            <a:ext cx="3028082" cy="1029799"/>
            <a:chOff x="5556249" y="1480176"/>
            <a:chExt cx="3082926" cy="1373065"/>
          </a:xfrm>
        </p:grpSpPr>
        <p:sp>
          <p:nvSpPr>
            <p:cNvPr id="147" name="Google Shape;147;p13"/>
            <p:cNvSpPr/>
            <p:nvPr/>
          </p:nvSpPr>
          <p:spPr>
            <a:xfrm>
              <a:off x="5556250" y="1480176"/>
              <a:ext cx="3082925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5556249" y="1480176"/>
              <a:ext cx="3082925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3582730" y="2210973"/>
            <a:ext cx="5056446" cy="1029799"/>
            <a:chOff x="3556000" y="2913323"/>
            <a:chExt cx="5083175" cy="1373065"/>
          </a:xfrm>
        </p:grpSpPr>
        <p:sp>
          <p:nvSpPr>
            <p:cNvPr id="150" name="Google Shape;150;p13"/>
            <p:cNvSpPr/>
            <p:nvPr/>
          </p:nvSpPr>
          <p:spPr>
            <a:xfrm>
              <a:off x="3556000" y="2913323"/>
              <a:ext cx="5083175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556000" y="2913323"/>
              <a:ext cx="5083174" cy="6334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52" name="Google Shape;152;p13"/>
          <p:cNvSpPr txBox="1"/>
          <p:nvPr>
            <p:ph idx="1" type="body"/>
          </p:nvPr>
        </p:nvSpPr>
        <p:spPr>
          <a:xfrm>
            <a:off x="457201" y="1197944"/>
            <a:ext cx="2198254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3" name="Google Shape;153;p13"/>
          <p:cNvSpPr txBox="1"/>
          <p:nvPr>
            <p:ph idx="2" type="body"/>
          </p:nvPr>
        </p:nvSpPr>
        <p:spPr>
          <a:xfrm>
            <a:off x="457210" y="1775180"/>
            <a:ext cx="2198255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4" name="Google Shape;154;p13"/>
          <p:cNvSpPr txBox="1"/>
          <p:nvPr>
            <p:ph idx="3" type="body"/>
          </p:nvPr>
        </p:nvSpPr>
        <p:spPr>
          <a:xfrm>
            <a:off x="2746376" y="1197944"/>
            <a:ext cx="2762250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5" name="Google Shape;155;p13"/>
          <p:cNvSpPr txBox="1"/>
          <p:nvPr>
            <p:ph idx="4" type="body"/>
          </p:nvPr>
        </p:nvSpPr>
        <p:spPr>
          <a:xfrm>
            <a:off x="2746378" y="1775180"/>
            <a:ext cx="276225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6" name="Google Shape;156;p13"/>
          <p:cNvSpPr txBox="1"/>
          <p:nvPr>
            <p:ph idx="5" type="body"/>
          </p:nvPr>
        </p:nvSpPr>
        <p:spPr>
          <a:xfrm>
            <a:off x="5611093" y="1197944"/>
            <a:ext cx="3028080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7" name="Google Shape;157;p13"/>
          <p:cNvSpPr txBox="1"/>
          <p:nvPr>
            <p:ph idx="6" type="body"/>
          </p:nvPr>
        </p:nvSpPr>
        <p:spPr>
          <a:xfrm>
            <a:off x="5611099" y="1775180"/>
            <a:ext cx="30280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8" name="Google Shape;158;p13"/>
          <p:cNvSpPr txBox="1"/>
          <p:nvPr>
            <p:ph idx="7" type="body"/>
          </p:nvPr>
        </p:nvSpPr>
        <p:spPr>
          <a:xfrm>
            <a:off x="3582731" y="2283875"/>
            <a:ext cx="5056442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9" name="Google Shape;159;p13"/>
          <p:cNvSpPr txBox="1"/>
          <p:nvPr>
            <p:ph idx="8" type="body"/>
          </p:nvPr>
        </p:nvSpPr>
        <p:spPr>
          <a:xfrm>
            <a:off x="3582730" y="2861109"/>
            <a:ext cx="5056446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0" name="Google Shape;160;p13"/>
          <p:cNvSpPr txBox="1"/>
          <p:nvPr>
            <p:ph idx="9" type="body"/>
          </p:nvPr>
        </p:nvSpPr>
        <p:spPr>
          <a:xfrm>
            <a:off x="457200" y="2283875"/>
            <a:ext cx="3035298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1" name="Google Shape;161;p13"/>
          <p:cNvSpPr txBox="1"/>
          <p:nvPr>
            <p:ph idx="13" type="body"/>
          </p:nvPr>
        </p:nvSpPr>
        <p:spPr>
          <a:xfrm>
            <a:off x="457206" y="2861109"/>
            <a:ext cx="3035299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2" name="Google Shape;162;p13"/>
          <p:cNvSpPr txBox="1"/>
          <p:nvPr>
            <p:ph idx="14" type="body"/>
          </p:nvPr>
        </p:nvSpPr>
        <p:spPr>
          <a:xfrm>
            <a:off x="457201" y="3385708"/>
            <a:ext cx="8181972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3" name="Google Shape;163;p13"/>
          <p:cNvSpPr txBox="1"/>
          <p:nvPr>
            <p:ph idx="15" type="body"/>
          </p:nvPr>
        </p:nvSpPr>
        <p:spPr>
          <a:xfrm>
            <a:off x="457197" y="3962944"/>
            <a:ext cx="8181980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">
  <p:cSld name="Venn Diagram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1602040" y="1009064"/>
            <a:ext cx="3742766" cy="37410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3764025" y="997539"/>
            <a:ext cx="3742766" cy="3742764"/>
          </a:xfrm>
          <a:prstGeom prst="ellipse">
            <a:avLst/>
          </a:prstGeom>
          <a:solidFill>
            <a:schemeClr val="accent3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5"/>
          <p:cNvSpPr txBox="1"/>
          <p:nvPr>
            <p:ph type="title"/>
          </p:nvPr>
        </p:nvSpPr>
        <p:spPr>
          <a:xfrm>
            <a:off x="1622280" y="2589950"/>
            <a:ext cx="1947510" cy="652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15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72" name="Google Shape;172;p15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310162" y="0"/>
            <a:ext cx="7986713" cy="70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15"/>
          <p:cNvSpPr txBox="1"/>
          <p:nvPr>
            <p:ph idx="2" type="body"/>
          </p:nvPr>
        </p:nvSpPr>
        <p:spPr>
          <a:xfrm>
            <a:off x="3569790" y="2589610"/>
            <a:ext cx="19685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15"/>
          <p:cNvSpPr txBox="1"/>
          <p:nvPr>
            <p:ph idx="3" type="body"/>
          </p:nvPr>
        </p:nvSpPr>
        <p:spPr>
          <a:xfrm>
            <a:off x="5538290" y="2589610"/>
            <a:ext cx="19685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239899" y="4582584"/>
            <a:ext cx="2229555" cy="3902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6"/>
          <p:cNvSpPr/>
          <p:nvPr>
            <p:ph idx="2" type="pic"/>
          </p:nvPr>
        </p:nvSpPr>
        <p:spPr>
          <a:xfrm>
            <a:off x="-15075" y="0"/>
            <a:ext cx="9186334" cy="4185826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16"/>
          <p:cNvSpPr/>
          <p:nvPr/>
        </p:nvSpPr>
        <p:spPr>
          <a:xfrm>
            <a:off x="-42334" y="4233334"/>
            <a:ext cx="9242778" cy="9165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6"/>
          <p:cNvSpPr txBox="1"/>
          <p:nvPr>
            <p:ph idx="1" type="body"/>
          </p:nvPr>
        </p:nvSpPr>
        <p:spPr>
          <a:xfrm>
            <a:off x="465844" y="4471120"/>
            <a:ext cx="5813600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3" name="Google Shape;183;p16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4" name="Google Shape;184;p16"/>
          <p:cNvGrpSpPr/>
          <p:nvPr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185" name="Google Shape;185;p16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/>
          <p:nvPr/>
        </p:nvSpPr>
        <p:spPr>
          <a:xfrm>
            <a:off x="312469" y="4593469"/>
            <a:ext cx="2229555" cy="5282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7"/>
          <p:cNvSpPr/>
          <p:nvPr>
            <p:ph idx="2" type="pic"/>
          </p:nvPr>
        </p:nvSpPr>
        <p:spPr>
          <a:xfrm>
            <a:off x="-14817" y="0"/>
            <a:ext cx="9186334" cy="4185826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465844" y="4471120"/>
            <a:ext cx="5813600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2" name="Google Shape;192;p1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3" name="Google Shape;193;p17"/>
          <p:cNvGrpSpPr/>
          <p:nvPr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194" name="Google Shape;194;p17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/>
          <p:nvPr/>
        </p:nvSpPr>
        <p:spPr>
          <a:xfrm>
            <a:off x="363798" y="4553643"/>
            <a:ext cx="2229555" cy="5898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18"/>
          <p:cNvSpPr/>
          <p:nvPr>
            <p:ph idx="2" type="pic"/>
          </p:nvPr>
        </p:nvSpPr>
        <p:spPr>
          <a:xfrm>
            <a:off x="-25400" y="1011586"/>
            <a:ext cx="9186334" cy="4138319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18"/>
          <p:cNvSpPr/>
          <p:nvPr/>
        </p:nvSpPr>
        <p:spPr>
          <a:xfrm>
            <a:off x="-21167" y="-3292"/>
            <a:ext cx="9178768" cy="9673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465844" y="231435"/>
            <a:ext cx="8220956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3" name="Google Shape;203;p18"/>
          <p:cNvGrpSpPr/>
          <p:nvPr/>
        </p:nvGrpSpPr>
        <p:grpSpPr>
          <a:xfrm>
            <a:off x="-21168" y="964078"/>
            <a:ext cx="9175834" cy="47507"/>
            <a:chOff x="685800" y="1794746"/>
            <a:chExt cx="7772400" cy="179475"/>
          </a:xfrm>
        </p:grpSpPr>
        <p:sp>
          <p:nvSpPr>
            <p:cNvPr id="204" name="Google Shape;204;p18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line-bluetext-colorshield.png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4699003"/>
            <a:ext cx="180909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30464" y="102970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323520" y="-19089"/>
            <a:ext cx="8229600" cy="7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95001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ctrTitle"/>
          </p:nvPr>
        </p:nvSpPr>
        <p:spPr>
          <a:xfrm>
            <a:off x="347250" y="1073525"/>
            <a:ext cx="80079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1818"/>
              <a:buFont typeface="Gill Sans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Dorm Chef: Teaching GPT to Cook with 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Constraints</a:t>
            </a:r>
            <a:br>
              <a:rPr lang="en-US"/>
            </a:br>
            <a:br>
              <a:rPr lang="en-US" sz="2600"/>
            </a:br>
            <a:r>
              <a:rPr lang="en-US" sz="1822"/>
              <a:t>CIS 5270: Trustworthy Machine Learning</a:t>
            </a:r>
            <a:r>
              <a:rPr lang="en-US" sz="1822"/>
              <a:t> (Spring 2026)</a:t>
            </a:r>
            <a:endParaRPr sz="1822"/>
          </a:p>
        </p:txBody>
      </p:sp>
      <p:sp>
        <p:nvSpPr>
          <p:cNvPr id="212" name="Google Shape;212;p19"/>
          <p:cNvSpPr txBox="1"/>
          <p:nvPr>
            <p:ph idx="1" type="subTitle"/>
          </p:nvPr>
        </p:nvSpPr>
        <p:spPr>
          <a:xfrm>
            <a:off x="429950" y="3619475"/>
            <a:ext cx="539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US"/>
              <a:t>Akshat Bokdia, Rashi Agrawal, Ritika Agarwal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en-US"/>
              <a:t>April 29,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20"/>
          <p:cNvSpPr txBox="1"/>
          <p:nvPr>
            <p:ph type="title"/>
          </p:nvPr>
        </p:nvSpPr>
        <p:spPr>
          <a:xfrm>
            <a:off x="125925" y="48425"/>
            <a:ext cx="841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Constraint-following Recipe Generation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21200" y="823200"/>
            <a:ext cx="8901600" cy="43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TASK</a:t>
            </a:r>
            <a:endParaRPr sz="18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Generate a quick, student-friendly recipe from a provided </a:t>
            </a:r>
            <a:endParaRPr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ingredient list while satisfying multiple practical constraints.</a:t>
            </a:r>
            <a:endParaRPr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CONSTRAINTS</a:t>
            </a:r>
            <a:endParaRPr sz="18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Gill Sans"/>
              <a:buChar char="•"/>
            </a:pPr>
            <a:r>
              <a:rPr lang="en-US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Use only the provided ingredients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3429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Gill Sans"/>
              <a:buChar char="•"/>
            </a:pPr>
            <a:r>
              <a:rPr lang="en-US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Cook time ≤ 15 minutes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3429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Gill Sans"/>
              <a:buChar char="•"/>
            </a:pPr>
            <a:r>
              <a:rPr lang="en-US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3–7 numbered steps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3429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Gill Sans"/>
              <a:buChar char="•"/>
            </a:pPr>
            <a:r>
              <a:rPr lang="en-US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Coherent, edible dish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3429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Gill Sans"/>
              <a:buChar char="•"/>
            </a:pPr>
            <a:r>
              <a:rPr lang="en-US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Realistic for a dorm kitchen</a:t>
            </a:r>
            <a:endParaRPr sz="17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959425" y="1511100"/>
            <a:ext cx="3642000" cy="31395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Gill Sans"/>
                <a:ea typeface="Gill Sans"/>
                <a:cs typeface="Gill Sans"/>
                <a:sym typeface="Gill Sans"/>
              </a:rPr>
              <a:t>EXAMPLE:</a:t>
            </a:r>
            <a:r>
              <a:rPr b="1" lang="en-US"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1" sz="18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Ingredients: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Rice </a:t>
            </a: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•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Kimchi </a:t>
            </a: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•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Tofu </a:t>
            </a: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•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Soy Sauce </a:t>
            </a: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•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Sesame Oil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Desired Output: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1525E"/>
              </a:buClr>
              <a:buSzPts val="1200"/>
              <a:buFont typeface="Calibri"/>
              <a:buNone/>
            </a:pPr>
            <a:r>
              <a:rPr b="1" lang="en-US" sz="1200">
                <a:latin typeface="Gill Sans"/>
                <a:ea typeface="Gill Sans"/>
                <a:cs typeface="Gill Sans"/>
                <a:sym typeface="Gill Sans"/>
              </a:rPr>
              <a:t>Quick Kimchi Tofu Fried Rice (15 min)</a:t>
            </a:r>
            <a:endParaRPr b="1" sz="1000">
              <a:solidFill>
                <a:srgbClr val="66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1525E"/>
              </a:buClr>
              <a:buSzPts val="1200"/>
              <a:buFont typeface="Calibri"/>
              <a:buNone/>
            </a:pPr>
            <a:r>
              <a:t/>
            </a:r>
            <a:endParaRPr b="1" sz="1200">
              <a:solidFill>
                <a:srgbClr val="66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1.  Heat oil; brown the tofu (3–4 min)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2.  Add kimchi; stir-fry 2 min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3.  Mix in cooked rice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4.  Drizzle soy sauce + sesame oil; toss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5.  Heat through and serve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1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Synthetic Data Generation Pipeline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457200" y="1288300"/>
            <a:ext cx="1702800" cy="15594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    </a:t>
            </a:r>
            <a:r>
              <a:rPr lang="en-US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Seed</a:t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(cuisine, meal,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dietary)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random triple</a:t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584350" y="1288300"/>
            <a:ext cx="1702800" cy="15594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        Generate X</a:t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Ingredient list</a:t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711500" y="1288300"/>
            <a:ext cx="1702800" cy="15594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          Generate Y,Y’</a:t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Preferred recipe +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rejected recipe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(violates any rule)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768600" y="1288300"/>
            <a:ext cx="1702800" cy="15594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          Judge Sanity</a:t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LLM-as-judge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verifies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preferred sample</a:t>
            </a:r>
            <a:endParaRPr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31" name="Google Shape;231;p21"/>
          <p:cNvCxnSpPr>
            <a:stCxn id="227" idx="3"/>
            <a:endCxn id="228" idx="1"/>
          </p:cNvCxnSpPr>
          <p:nvPr/>
        </p:nvCxnSpPr>
        <p:spPr>
          <a:xfrm>
            <a:off x="2160000" y="2068000"/>
            <a:ext cx="42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1"/>
          <p:cNvCxnSpPr>
            <a:stCxn id="228" idx="3"/>
            <a:endCxn id="229" idx="1"/>
          </p:cNvCxnSpPr>
          <p:nvPr/>
        </p:nvCxnSpPr>
        <p:spPr>
          <a:xfrm>
            <a:off x="4287150" y="2068000"/>
            <a:ext cx="42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1"/>
          <p:cNvCxnSpPr>
            <a:stCxn id="229" idx="3"/>
            <a:endCxn id="230" idx="1"/>
          </p:cNvCxnSpPr>
          <p:nvPr/>
        </p:nvCxnSpPr>
        <p:spPr>
          <a:xfrm>
            <a:off x="6414300" y="2068000"/>
            <a:ext cx="35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21"/>
          <p:cNvSpPr/>
          <p:nvPr/>
        </p:nvSpPr>
        <p:spPr>
          <a:xfrm>
            <a:off x="658675" y="1530475"/>
            <a:ext cx="319800" cy="3294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2787125" y="1530475"/>
            <a:ext cx="319800" cy="3294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2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4838075" y="1530475"/>
            <a:ext cx="319800" cy="3294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6889025" y="1530475"/>
            <a:ext cx="319800" cy="3294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4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1496775" y="3156075"/>
            <a:ext cx="1702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25E"/>
              </a:buClr>
              <a:buSzPts val="28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2,</a:t>
            </a: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b="0" i="0" sz="1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496850" y="3533650"/>
            <a:ext cx="17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9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samples </a:t>
            </a:r>
            <a:r>
              <a:rPr lang="en-US" sz="120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generated</a:t>
            </a:r>
            <a:endParaRPr b="0" i="0" sz="12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573550" y="3151575"/>
            <a:ext cx="17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25E"/>
              </a:buClr>
              <a:buSzPts val="28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1600</a:t>
            </a: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/ 400 / 200</a:t>
            </a:r>
            <a:endParaRPr b="0" i="0" sz="1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650329" y="3151575"/>
            <a:ext cx="17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25E"/>
              </a:buClr>
              <a:buSzPts val="28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-4.1-mini</a:t>
            </a:r>
            <a:endParaRPr b="0" i="0" sz="17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573550" y="3533650"/>
            <a:ext cx="17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9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rain / val / test split</a:t>
            </a:r>
            <a:endParaRPr b="0" i="0" sz="12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650325" y="3533808"/>
            <a:ext cx="1702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9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generator + judge</a:t>
            </a:r>
            <a:endParaRPr b="0" i="0" sz="12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57200" y="4035251"/>
            <a:ext cx="7933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89"/>
              </a:buClr>
              <a:buSzPts val="1200"/>
              <a:buFont typeface="Calibri"/>
              <a:buNone/>
            </a:pPr>
            <a:r>
              <a:rPr b="0" i="1" lang="en-US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Same shared pool reformatted into method-specific files: SFT uses (x, y); DPO uses (x, y, y′).</a:t>
            </a:r>
            <a:endParaRPr b="0" i="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2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Evaluation: LLM-as-judge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407773" y="923325"/>
            <a:ext cx="8173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WHAT WE MEASURE  (per recipe</a:t>
            </a:r>
            <a:r>
              <a:rPr b="1" i="0" lang="en-US" sz="1200" u="none" cap="none" strike="noStrike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, on held-out samples</a:t>
            </a:r>
            <a:r>
              <a:rPr b="1" i="0" lang="en-US" sz="1200" u="none" cap="none" strike="noStrike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i="0" sz="1200" u="none" cap="none" strike="noStrike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72500" y="2139250"/>
            <a:ext cx="2043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Ingredient compliance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Step count in range (3–7)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Cook time in range (≤15 min)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All-pass (all three above)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3437275" y="2139250"/>
            <a:ext cx="2043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Coherence (plausible dish)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Student-friendly (dorm-realistic)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LLM quality = 0.5 · coherence + 0.5 · student-friendly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" name="Google Shape;254;p22"/>
          <p:cNvGrpSpPr/>
          <p:nvPr/>
        </p:nvGrpSpPr>
        <p:grpSpPr>
          <a:xfrm>
            <a:off x="407773" y="1284447"/>
            <a:ext cx="8279106" cy="2011803"/>
            <a:chOff x="407773" y="1458803"/>
            <a:chExt cx="8279106" cy="2011803"/>
          </a:xfrm>
        </p:grpSpPr>
        <p:grpSp>
          <p:nvGrpSpPr>
            <p:cNvPr id="255" name="Google Shape;255;p22"/>
            <p:cNvGrpSpPr/>
            <p:nvPr/>
          </p:nvGrpSpPr>
          <p:grpSpPr>
            <a:xfrm>
              <a:off x="407773" y="1458803"/>
              <a:ext cx="2517473" cy="2011803"/>
              <a:chOff x="407773" y="1458816"/>
              <a:chExt cx="2517473" cy="2011803"/>
            </a:xfrm>
          </p:grpSpPr>
          <p:grpSp>
            <p:nvGrpSpPr>
              <p:cNvPr id="256" name="Google Shape;256;p22"/>
              <p:cNvGrpSpPr/>
              <p:nvPr/>
            </p:nvGrpSpPr>
            <p:grpSpPr>
              <a:xfrm>
                <a:off x="407773" y="1458816"/>
                <a:ext cx="2517473" cy="2011803"/>
                <a:chOff x="457188" y="1783066"/>
                <a:chExt cx="2435400" cy="2011803"/>
              </a:xfrm>
            </p:grpSpPr>
            <p:sp>
              <p:nvSpPr>
                <p:cNvPr id="257" name="Google Shape;257;p22"/>
                <p:cNvSpPr/>
                <p:nvPr/>
              </p:nvSpPr>
              <p:spPr>
                <a:xfrm>
                  <a:off x="457188" y="1783068"/>
                  <a:ext cx="2435400" cy="2011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8E5E8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01600" rotWithShape="0" algn="bl" dir="8100000" dist="25400">
                    <a:srgbClr val="000000">
                      <a:alpha val="588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" name="Google Shape;258;p22"/>
                <p:cNvSpPr/>
                <p:nvPr/>
              </p:nvSpPr>
              <p:spPr>
                <a:xfrm>
                  <a:off x="457188" y="1783066"/>
                  <a:ext cx="2435400" cy="91500"/>
                </a:xfrm>
                <a:prstGeom prst="rect">
                  <a:avLst/>
                </a:prstGeom>
                <a:solidFill>
                  <a:srgbClr val="800000"/>
                </a:solidFill>
                <a:ln cap="flat" cmpd="sng" w="12700">
                  <a:solidFill>
                    <a:srgbClr val="8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59" name="Google Shape;259;p22"/>
              <p:cNvSpPr/>
              <p:nvPr/>
            </p:nvSpPr>
            <p:spPr>
              <a:xfrm>
                <a:off x="583153" y="1635150"/>
                <a:ext cx="1558800" cy="35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1525E"/>
                  </a:buClr>
                  <a:buSzPts val="1600"/>
                  <a:buFont typeface="Calibri"/>
                  <a:buNone/>
                </a:pPr>
                <a:r>
                  <a:rPr b="1" i="0" lang="en-US" sz="1600" u="none" cap="none" strike="noStrike">
                    <a:solidFill>
                      <a:srgbClr val="8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Hard </a:t>
                </a:r>
                <a:r>
                  <a:rPr b="1" lang="en-US" sz="1600">
                    <a:solidFill>
                      <a:srgbClr val="8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Metrics</a:t>
                </a:r>
                <a:endParaRPr i="0" sz="1600" u="none" cap="none" strike="noStrike">
                  <a:solidFill>
                    <a:srgbClr val="8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grpSp>
          <p:nvGrpSpPr>
            <p:cNvPr id="260" name="Google Shape;260;p22"/>
            <p:cNvGrpSpPr/>
            <p:nvPr/>
          </p:nvGrpSpPr>
          <p:grpSpPr>
            <a:xfrm>
              <a:off x="3283477" y="1458803"/>
              <a:ext cx="2600918" cy="2011803"/>
              <a:chOff x="3136727" y="1458766"/>
              <a:chExt cx="2600918" cy="2011803"/>
            </a:xfrm>
          </p:grpSpPr>
          <p:grpSp>
            <p:nvGrpSpPr>
              <p:cNvPr id="261" name="Google Shape;261;p22"/>
              <p:cNvGrpSpPr/>
              <p:nvPr/>
            </p:nvGrpSpPr>
            <p:grpSpPr>
              <a:xfrm>
                <a:off x="3136727" y="1458766"/>
                <a:ext cx="2600918" cy="2011803"/>
                <a:chOff x="3125434" y="1783065"/>
                <a:chExt cx="2170325" cy="2011803"/>
              </a:xfrm>
            </p:grpSpPr>
            <p:sp>
              <p:nvSpPr>
                <p:cNvPr id="262" name="Google Shape;262;p22"/>
                <p:cNvSpPr/>
                <p:nvPr/>
              </p:nvSpPr>
              <p:spPr>
                <a:xfrm>
                  <a:off x="3125559" y="1783068"/>
                  <a:ext cx="2170200" cy="2011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8E5E8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01600" rotWithShape="0" algn="bl" dir="8100000" dist="25400">
                    <a:srgbClr val="000000">
                      <a:alpha val="588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22"/>
                <p:cNvSpPr/>
                <p:nvPr/>
              </p:nvSpPr>
              <p:spPr>
                <a:xfrm>
                  <a:off x="3125434" y="1783065"/>
                  <a:ext cx="2170200" cy="91500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127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64" name="Google Shape;264;p22"/>
              <p:cNvSpPr/>
              <p:nvPr/>
            </p:nvSpPr>
            <p:spPr>
              <a:xfrm>
                <a:off x="3352804" y="1645975"/>
                <a:ext cx="18855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1525E"/>
                  </a:buClr>
                  <a:buSzPts val="1600"/>
                  <a:buFont typeface="Calibri"/>
                  <a:buNone/>
                </a:pPr>
                <a:r>
                  <a:rPr b="1" i="0" lang="en-US" sz="1600" u="none" cap="none" strike="noStrike">
                    <a:solidFill>
                      <a:srgbClr val="8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Soft </a:t>
                </a:r>
                <a:r>
                  <a:rPr b="1" lang="en-US" sz="1600">
                    <a:solidFill>
                      <a:srgbClr val="8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Metrics</a:t>
                </a:r>
                <a:endParaRPr i="0" sz="1600" u="none" cap="none" strike="noStrike">
                  <a:solidFill>
                    <a:srgbClr val="8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grpSp>
          <p:nvGrpSpPr>
            <p:cNvPr id="265" name="Google Shape;265;p22"/>
            <p:cNvGrpSpPr/>
            <p:nvPr/>
          </p:nvGrpSpPr>
          <p:grpSpPr>
            <a:xfrm>
              <a:off x="6264075" y="1458806"/>
              <a:ext cx="2422804" cy="2011800"/>
              <a:chOff x="5944450" y="1458793"/>
              <a:chExt cx="2422804" cy="2011800"/>
            </a:xfrm>
          </p:grpSpPr>
          <p:grpSp>
            <p:nvGrpSpPr>
              <p:cNvPr id="266" name="Google Shape;266;p22"/>
              <p:cNvGrpSpPr/>
              <p:nvPr/>
            </p:nvGrpSpPr>
            <p:grpSpPr>
              <a:xfrm>
                <a:off x="5944450" y="1458793"/>
                <a:ext cx="2422804" cy="2011800"/>
                <a:chOff x="5209609" y="1783068"/>
                <a:chExt cx="2951400" cy="2011800"/>
              </a:xfrm>
            </p:grpSpPr>
            <p:sp>
              <p:nvSpPr>
                <p:cNvPr id="267" name="Google Shape;267;p22"/>
                <p:cNvSpPr/>
                <p:nvPr/>
              </p:nvSpPr>
              <p:spPr>
                <a:xfrm>
                  <a:off x="5209609" y="1783068"/>
                  <a:ext cx="2951400" cy="20118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12700">
                  <a:solidFill>
                    <a:srgbClr val="D8E5E8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101600" rotWithShape="0" algn="bl" dir="8100000" dist="25400">
                    <a:srgbClr val="000000">
                      <a:alpha val="588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68" name="Google Shape;268;p22"/>
                <p:cNvSpPr/>
                <p:nvPr/>
              </p:nvSpPr>
              <p:spPr>
                <a:xfrm>
                  <a:off x="5209609" y="1783069"/>
                  <a:ext cx="2951400" cy="915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1270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69" name="Google Shape;269;p22"/>
              <p:cNvSpPr/>
              <p:nvPr/>
            </p:nvSpPr>
            <p:spPr>
              <a:xfrm>
                <a:off x="6112546" y="1627325"/>
                <a:ext cx="1950600" cy="32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1525E"/>
                  </a:buClr>
                  <a:buSzPts val="1600"/>
                  <a:buFont typeface="Calibri"/>
                  <a:buNone/>
                </a:pPr>
                <a:r>
                  <a:rPr b="1" i="0" lang="en-US" sz="1600" u="none" cap="none" strike="noStrike">
                    <a:solidFill>
                      <a:srgbClr val="8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Descriptive</a:t>
                </a:r>
                <a:endParaRPr i="0" sz="1600" u="none" cap="none" strike="noStrike">
                  <a:solidFill>
                    <a:srgbClr val="8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sp>
        <p:nvSpPr>
          <p:cNvPr id="270" name="Google Shape;270;p22"/>
          <p:cNvSpPr/>
          <p:nvPr/>
        </p:nvSpPr>
        <p:spPr>
          <a:xfrm>
            <a:off x="6443200" y="1887400"/>
            <a:ext cx="2133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Avg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. </a:t>
            </a: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number of steps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Avg. cook time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407775" y="3329724"/>
            <a:ext cx="58563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HOW</a:t>
            </a:r>
            <a:endParaRPr i="0" sz="1200" u="none" cap="none" strike="noStrike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07775" y="3601000"/>
            <a:ext cx="82791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Single judge call per recipe (GPT-4.1-mini)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We chose LLM-as-judge over regex checks because regex was fragile on synonyms, plurals, and free-form cook-time wording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327902" y="1887400"/>
            <a:ext cx="24882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Coherence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Stude</a:t>
            </a: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t-friendly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LLM quality 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score: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0.5 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* </a:t>
            </a: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coherence + 0.5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* </a:t>
            </a: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student-friendly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72501" y="1954500"/>
            <a:ext cx="23172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Ingredient compliance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Step count in range (3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-</a:t>
            </a: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7)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Cook time in range (≤15 min)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All-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P</a:t>
            </a:r>
            <a:r>
              <a:rPr i="0" lang="en-US" sz="1200" u="none" cap="none" strike="noStrike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ass Rate (all three above)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2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Baseline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379600" y="968650"/>
            <a:ext cx="8229600" cy="160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System Prompt: </a:t>
            </a:r>
            <a:r>
              <a:rPr i="1" lang="en-US">
                <a:latin typeface="Gill Sans"/>
                <a:ea typeface="Gill Sans"/>
                <a:cs typeface="Gill Sans"/>
                <a:sym typeface="Gill Sans"/>
              </a:rPr>
              <a:t>You are a recipe assistant for college students. Generate quick recipes (under 15 minutes) with 3-7 clear numbered steps, using only the ingredients provided.</a:t>
            </a:r>
            <a:endParaRPr i="1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User Prompt: </a:t>
            </a:r>
            <a:r>
              <a:rPr i="1" lang="en-US">
                <a:latin typeface="Gill Sans"/>
                <a:ea typeface="Gill Sans"/>
                <a:cs typeface="Gill Sans"/>
                <a:sym typeface="Gill Sans"/>
              </a:rPr>
              <a:t>Create a quick, student-friendly recipe using these ingredients: [ingredient list]. Keep it under 15 minutes with 3-7 clear steps.</a:t>
            </a:r>
            <a:endParaRPr b="1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379600" y="2905925"/>
            <a:ext cx="1444500" cy="12012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GPT-4.1-nano</a:t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Gill Sans"/>
                <a:ea typeface="Gill Sans"/>
                <a:cs typeface="Gill Sans"/>
                <a:sym typeface="Gill Sans"/>
              </a:rPr>
              <a:t>Temp: 1.0</a:t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Base Model</a:t>
            </a:r>
            <a:endParaRPr b="1" sz="11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647950" y="2905925"/>
            <a:ext cx="1444500" cy="12012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GPT-4.1-mini</a:t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Gill Sans"/>
                <a:ea typeface="Gill Sans"/>
                <a:cs typeface="Gill Sans"/>
                <a:sym typeface="Gill Sans"/>
              </a:rPr>
              <a:t>Temp:</a:t>
            </a:r>
            <a:r>
              <a:rPr b="1" lang="en-US" sz="1100"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1100">
                <a:latin typeface="Gill Sans"/>
                <a:ea typeface="Gill Sans"/>
                <a:cs typeface="Gill Sans"/>
                <a:sym typeface="Gill Sans"/>
              </a:rPr>
              <a:t>0.0</a:t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Judge Model</a:t>
            </a:r>
            <a:endParaRPr b="1" sz="11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4" name="Google Shape;284;p23"/>
          <p:cNvSpPr/>
          <p:nvPr/>
        </p:nvSpPr>
        <p:spPr>
          <a:xfrm flipH="1">
            <a:off x="4916288" y="2905925"/>
            <a:ext cx="1444500" cy="12012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98.25%</a:t>
            </a:r>
            <a:endParaRPr b="1" sz="11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All Pass Rate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7184650" y="2882275"/>
            <a:ext cx="1444500" cy="1201200"/>
          </a:xfrm>
          <a:prstGeom prst="rect">
            <a:avLst/>
          </a:prstGeom>
          <a:solidFill>
            <a:srgbClr val="D2E5E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1.0</a:t>
            </a:r>
            <a:endParaRPr b="1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ill Sans"/>
                <a:ea typeface="Gill Sans"/>
                <a:cs typeface="Gill Sans"/>
                <a:sym typeface="Gill Sans"/>
              </a:rPr>
              <a:t>Avg. LLM quality score</a:t>
            </a:r>
            <a:endParaRPr b="1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>
                <a:solidFill>
                  <a:schemeClr val="accent1"/>
                </a:solidFill>
              </a:rPr>
              <a:t>Supervised Fine Tuning (SFT)</a:t>
            </a:r>
            <a:endParaRPr/>
          </a:p>
        </p:txBody>
      </p:sp>
      <p:graphicFrame>
        <p:nvGraphicFramePr>
          <p:cNvPr id="293" name="Google Shape;293;p24"/>
          <p:cNvGraphicFramePr/>
          <p:nvPr/>
        </p:nvGraphicFramePr>
        <p:xfrm>
          <a:off x="3212623" y="16209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{AAD0677B-EBC7-42BF-9C1D-BF39B4CC3707}</a:tableStyleId>
              </a:tblPr>
              <a:tblGrid>
                <a:gridCol w="522525"/>
                <a:gridCol w="1890300"/>
                <a:gridCol w="951775"/>
                <a:gridCol w="1178450"/>
                <a:gridCol w="784075"/>
              </a:tblGrid>
              <a:tr h="453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Run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Hyperparameter Configuration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Final Train Loss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Final Full Valid Loss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Num Steps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ep=1, bs=8, lr=0.5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0.3734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0.3502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bs=8, lr=0.5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0.2856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0.3376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ep=3, bs=8, lr=0.5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0.2169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0.3411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600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bs=8, lr=0.2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0.3252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0.3360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bs=8, lr=1.0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0.2828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0.3441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6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bs=4, lr=0.5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0.3315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0.3395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800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" name="Google Shape;294;p24"/>
          <p:cNvSpPr/>
          <p:nvPr/>
        </p:nvSpPr>
        <p:spPr>
          <a:xfrm>
            <a:off x="3212638" y="2697600"/>
            <a:ext cx="5327100" cy="589200"/>
          </a:xfrm>
          <a:prstGeom prst="rect">
            <a:avLst/>
          </a:prstGeom>
          <a:noFill/>
          <a:ln cap="flat" cmpd="sng" w="28575">
            <a:solidFill>
              <a:srgbClr val="9500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310150" y="1037475"/>
            <a:ext cx="27813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SFT Training Data</a:t>
            </a:r>
            <a:endParaRPr b="1"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Input = ingredient list + prompt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Target = preferred recipe satisfying all constraints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Hyperparameter Search</a:t>
            </a:r>
            <a:endParaRPr b="1"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Total of 6 configurations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Tuned epochs, batch size, 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l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earning-rate multiplier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25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>
                <a:solidFill>
                  <a:schemeClr val="accent1"/>
                </a:solidFill>
              </a:rPr>
              <a:t>SFT Results</a:t>
            </a:r>
            <a:endParaRPr/>
          </a:p>
        </p:txBody>
      </p:sp>
      <p:pic>
        <p:nvPicPr>
          <p:cNvPr id="303" name="Google Shape;303;p25"/>
          <p:cNvPicPr preferRelativeResize="0"/>
          <p:nvPr/>
        </p:nvPicPr>
        <p:blipFill rotWithShape="1">
          <a:blip r:embed="rId3">
            <a:alphaModFix/>
          </a:blip>
          <a:srcRect b="764" l="0" r="0" t="0"/>
          <a:stretch/>
        </p:blipFill>
        <p:spPr>
          <a:xfrm>
            <a:off x="3207240" y="852175"/>
            <a:ext cx="5384486" cy="384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/>
          <p:nvPr/>
        </p:nvSpPr>
        <p:spPr>
          <a:xfrm>
            <a:off x="310150" y="1238250"/>
            <a:ext cx="2897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Best runs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SFT-alpha = Run 3 (ep=3, bs=8, lr=0.5)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Lowest training loss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SFT-beta = Run 4 (ep=2, bs=8, lr=0.2)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Lowest validation loss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310150" y="2878400"/>
            <a:ext cx="2897100" cy="14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Key Takeaway</a:t>
            </a:r>
            <a:endParaRPr b="1"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More epochs reduced train loss, but didn’t always improve validation loss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Moderate LR (0.2) generalized slightly better than higher LR settings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26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Correct vs. Incorrect Recipe Generation</a:t>
            </a:r>
            <a:endParaRPr/>
          </a:p>
        </p:txBody>
      </p:sp>
      <p:pic>
        <p:nvPicPr>
          <p:cNvPr id="313" name="Google Shape;313;p26" title="Screenshot 2026-04-29 at 12.19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825" y="861475"/>
            <a:ext cx="3707924" cy="36947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4" name="Google Shape;314;p26" title="Screenshot 2026-04-29 at 12.25.1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9149" y="861485"/>
            <a:ext cx="3785984" cy="368511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5" name="Google Shape;315;p26"/>
          <p:cNvSpPr/>
          <p:nvPr/>
        </p:nvSpPr>
        <p:spPr>
          <a:xfrm>
            <a:off x="4449150" y="4103375"/>
            <a:ext cx="3786000" cy="443100"/>
          </a:xfrm>
          <a:prstGeom prst="rect">
            <a:avLst/>
          </a:prstGeom>
          <a:noFill/>
          <a:ln cap="flat" cmpd="sng" w="28575">
            <a:solidFill>
              <a:srgbClr val="9500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4631650" y="2820625"/>
            <a:ext cx="219300" cy="136800"/>
          </a:xfrm>
          <a:prstGeom prst="rect">
            <a:avLst/>
          </a:prstGeom>
          <a:noFill/>
          <a:ln cap="flat" cmpd="sng" w="28575">
            <a:solidFill>
              <a:srgbClr val="9500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27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Comparison</a:t>
            </a:r>
            <a:endParaRPr/>
          </a:p>
        </p:txBody>
      </p:sp>
      <p:pic>
        <p:nvPicPr>
          <p:cNvPr id="324" name="Google Shape;3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125" y="861485"/>
            <a:ext cx="7377748" cy="368511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/>
          <p:nvPr/>
        </p:nvSpPr>
        <p:spPr>
          <a:xfrm>
            <a:off x="4328575" y="2194550"/>
            <a:ext cx="952500" cy="1446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310150" y="1547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>
                <a:solidFill>
                  <a:schemeClr val="accent1"/>
                </a:solidFill>
              </a:rPr>
              <a:t>Direct Preference Optimization (DPO)</a:t>
            </a:r>
            <a:endParaRPr/>
          </a:p>
        </p:txBody>
      </p:sp>
      <p:graphicFrame>
        <p:nvGraphicFramePr>
          <p:cNvPr id="333" name="Google Shape;333;p28"/>
          <p:cNvGraphicFramePr/>
          <p:nvPr/>
        </p:nvGraphicFramePr>
        <p:xfrm>
          <a:off x="3168223" y="15438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{AAD0677B-EBC7-42BF-9C1D-BF39B4CC3707}</a:tableStyleId>
              </a:tblPr>
              <a:tblGrid>
                <a:gridCol w="541300"/>
                <a:gridCol w="2000550"/>
                <a:gridCol w="1043000"/>
                <a:gridCol w="1121475"/>
                <a:gridCol w="812250"/>
              </a:tblGrid>
              <a:tr h="52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Run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Hyperparameter Configuration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Final Train Loss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Final Full Valid Loss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Num Steps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ep=1, bs=8, lr=0.2, beta=0.1	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0.5514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0.5758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bs=8, lr=0.2, beta=0.1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0.4811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0.4636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ep=3, bs=8, lr=0.2, beta=0.1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0.2872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0.2847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600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bs=8, lr=0.2, beta=0.3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0.2800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0.2034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bs=8, lr=0.2, beta=0.5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0.0788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0.0928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6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bs=8, lr=0.5, beta=0.1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0.0194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0.0354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</a:t>
                      </a: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28"/>
          <p:cNvSpPr/>
          <p:nvPr/>
        </p:nvSpPr>
        <p:spPr>
          <a:xfrm>
            <a:off x="3168250" y="3647925"/>
            <a:ext cx="5518500" cy="315000"/>
          </a:xfrm>
          <a:prstGeom prst="rect">
            <a:avLst/>
          </a:prstGeom>
          <a:noFill/>
          <a:ln cap="flat" cmpd="sng" w="28575">
            <a:solidFill>
              <a:srgbClr val="9500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310150" y="922613"/>
            <a:ext cx="2858100" cy="36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DPO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Training Data</a:t>
            </a:r>
            <a:endParaRPr b="1"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Used shared synthetic dataset reformatted into preference pairs (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prompt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chosen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rejected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Chosen recipe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satisfies all task constraints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Rejected recipe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violates one constraint: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Extra ingredients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Longer cook time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Too many steps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Special Equipment 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Hyperparameter Search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Tuned epochs, learning-rate multiplier and beta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p29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DPO Results</a:t>
            </a:r>
            <a:endParaRPr/>
          </a:p>
        </p:txBody>
      </p:sp>
      <p:pic>
        <p:nvPicPr>
          <p:cNvPr id="343" name="Google Shape;3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340" y="958576"/>
            <a:ext cx="5195412" cy="374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9"/>
          <p:cNvSpPr/>
          <p:nvPr/>
        </p:nvSpPr>
        <p:spPr>
          <a:xfrm>
            <a:off x="310150" y="1238250"/>
            <a:ext cx="2897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Best run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DPO = Run 6 (ep=2, bs=8, lr=0.5, beta=0.1)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Lowest training loss and validation loss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310150" y="2878400"/>
            <a:ext cx="28971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Key Takeaway</a:t>
            </a:r>
            <a:endParaRPr b="1"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Higher beta values reduced loss faster than beta=0.1 (except when lr was higher - run 6)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Preference optimization reduced loss much faster than SFT across most runs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30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Correct vs. Incorrect Recipe Generation</a:t>
            </a:r>
            <a:endParaRPr/>
          </a:p>
        </p:txBody>
      </p:sp>
      <p:pic>
        <p:nvPicPr>
          <p:cNvPr id="353" name="Google Shape;353;p30" title="Screenshot 2026-04-29 at 12.58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50" y="861475"/>
            <a:ext cx="3658425" cy="37557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4" name="Google Shape;354;p30" title="Screenshot 2026-04-29 at 1.17.2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575" y="861475"/>
            <a:ext cx="4230224" cy="3755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5" name="Google Shape;355;p30"/>
          <p:cNvSpPr/>
          <p:nvPr/>
        </p:nvSpPr>
        <p:spPr>
          <a:xfrm>
            <a:off x="4631650" y="4180075"/>
            <a:ext cx="3977400" cy="224700"/>
          </a:xfrm>
          <a:prstGeom prst="rect">
            <a:avLst/>
          </a:prstGeom>
          <a:noFill/>
          <a:ln cap="flat" cmpd="sng" w="28575">
            <a:solidFill>
              <a:srgbClr val="9500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7824675" y="2492525"/>
            <a:ext cx="401400" cy="79200"/>
          </a:xfrm>
          <a:prstGeom prst="rect">
            <a:avLst/>
          </a:prstGeom>
          <a:noFill/>
          <a:ln cap="flat" cmpd="sng" w="19050">
            <a:solidFill>
              <a:srgbClr val="9500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075" y="893766"/>
            <a:ext cx="7519100" cy="375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between Base, SFT and DPO</a:t>
            </a:r>
            <a:endParaRPr/>
          </a:p>
        </p:txBody>
      </p:sp>
      <p:sp>
        <p:nvSpPr>
          <p:cNvPr id="365" name="Google Shape;365;p31"/>
          <p:cNvSpPr/>
          <p:nvPr/>
        </p:nvSpPr>
        <p:spPr>
          <a:xfrm>
            <a:off x="4236400" y="2267075"/>
            <a:ext cx="860400" cy="1446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7039325" y="1431450"/>
            <a:ext cx="860400" cy="2280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"/>
          <p:cNvSpPr txBox="1"/>
          <p:nvPr/>
        </p:nvSpPr>
        <p:spPr>
          <a:xfrm>
            <a:off x="0" y="220230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Experiment 2.0 - Harder Constraints</a:t>
            </a:r>
            <a:endParaRPr sz="3600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33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What did we change? </a:t>
            </a:r>
            <a:endParaRPr/>
          </a:p>
        </p:txBody>
      </p:sp>
      <p:sp>
        <p:nvSpPr>
          <p:cNvPr id="380" name="Google Shape;380;p33"/>
          <p:cNvSpPr/>
          <p:nvPr/>
        </p:nvSpPr>
        <p:spPr>
          <a:xfrm>
            <a:off x="310150" y="1037475"/>
            <a:ext cx="8376600" cy="36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Baseline model achieved near-saturated performance on the original task (98% pass rate), limiting room for improvement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Designed a harder stress-test set of 200 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examples by a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dding tougher constraints classes :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Cuisine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style (e.g., make a Mexican dish using pasta, black beans, corn, yogurt, onion, apple, cheddar, garlic)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Weird ingredient 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combinations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(e.g., peanut butter, pasta, yogurt, broccoli)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Adversarial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(e.g., make it vegan while chicken is included in ingredients)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Exclude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ingredient (e.g., eggs provided, but recipe must avoid eggs or include allergies)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Low 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calorie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(e.g., choose 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spinach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over mayo + cheese)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○"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Taste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profile (e.g., make it spicy / savory / tangy)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Goal: Test 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robustness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 when constraints become more challenging o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r conflicting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34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 Models Performance Drop!</a:t>
            </a:r>
            <a:endParaRPr/>
          </a:p>
        </p:txBody>
      </p:sp>
      <p:pic>
        <p:nvPicPr>
          <p:cNvPr id="388" name="Google Shape;3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25" y="1601757"/>
            <a:ext cx="2641625" cy="2093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700" y="1601744"/>
            <a:ext cx="2642617" cy="209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9188" y="1601752"/>
            <a:ext cx="2641626" cy="209397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4"/>
          <p:cNvSpPr txBox="1"/>
          <p:nvPr/>
        </p:nvSpPr>
        <p:spPr>
          <a:xfrm>
            <a:off x="1226238" y="3695725"/>
            <a:ext cx="8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Base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2" name="Google Shape;392;p34"/>
          <p:cNvSpPr txBox="1"/>
          <p:nvPr/>
        </p:nvSpPr>
        <p:spPr>
          <a:xfrm>
            <a:off x="4214163" y="3695725"/>
            <a:ext cx="8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SFT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3" name="Google Shape;393;p34"/>
          <p:cNvSpPr txBox="1"/>
          <p:nvPr/>
        </p:nvSpPr>
        <p:spPr>
          <a:xfrm>
            <a:off x="7202100" y="3695725"/>
            <a:ext cx="8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DPO</a:t>
            </a:r>
            <a:endParaRPr sz="1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" name="Google Shape;400;p35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Technique comparison results are inline</a:t>
            </a:r>
            <a:endParaRPr/>
          </a:p>
        </p:txBody>
      </p:sp>
      <p:pic>
        <p:nvPicPr>
          <p:cNvPr id="401" name="Google Shape;4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650" y="861485"/>
            <a:ext cx="7362707" cy="368511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5"/>
          <p:cNvSpPr/>
          <p:nvPr/>
        </p:nvSpPr>
        <p:spPr>
          <a:xfrm>
            <a:off x="4857750" y="1879025"/>
            <a:ext cx="684000" cy="1756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4061125" y="1708200"/>
            <a:ext cx="684000" cy="192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36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new models with tougher dataset</a:t>
            </a:r>
            <a:endParaRPr/>
          </a:p>
        </p:txBody>
      </p:sp>
      <p:graphicFrame>
        <p:nvGraphicFramePr>
          <p:cNvPr id="411" name="Google Shape;411;p36"/>
          <p:cNvGraphicFramePr/>
          <p:nvPr/>
        </p:nvGraphicFramePr>
        <p:xfrm>
          <a:off x="3488298" y="23308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{AAD0677B-EBC7-42BF-9C1D-BF39B4CC3707}</a:tableStyleId>
              </a:tblPr>
              <a:tblGrid>
                <a:gridCol w="949400"/>
                <a:gridCol w="1775600"/>
                <a:gridCol w="990000"/>
                <a:gridCol w="1064475"/>
                <a:gridCol w="770975"/>
              </a:tblGrid>
              <a:tr h="52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Technique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Hyperparameter Configuration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Final Train Loss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Final Full Valid Loss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Num Steps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SFT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ep=3, bs=8, lr=0.5	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0.467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0.417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600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DPO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ep=2, bs=8, lr=0.5, beta=0.1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0.004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0.020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400</a:t>
                      </a:r>
                      <a:endParaRPr sz="11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36"/>
          <p:cNvSpPr/>
          <p:nvPr/>
        </p:nvSpPr>
        <p:spPr>
          <a:xfrm>
            <a:off x="310150" y="1037475"/>
            <a:ext cx="28581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Model 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Training Data</a:t>
            </a:r>
            <a:endParaRPr b="1"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Trained GPT-4.1-nano model using SFT and DPO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Training data had more edge cases and noisy inputs, with distribution similar to real world queries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Rejected samples in DPO violated 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constraints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, or any metric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No </a:t>
            </a:r>
            <a:r>
              <a:rPr b="1"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Hyperparameter Tuning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Gill Sans"/>
              <a:buChar char="●"/>
            </a:pP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Reused baseline </a:t>
            </a:r>
            <a:r>
              <a:rPr lang="en-US" sz="1200">
                <a:solidFill>
                  <a:srgbClr val="1A2B3C"/>
                </a:solidFill>
                <a:latin typeface="Gill Sans"/>
                <a:ea typeface="Gill Sans"/>
                <a:cs typeface="Gill Sans"/>
                <a:sym typeface="Gill Sans"/>
              </a:rPr>
              <a:t>hyperparameters to ensure fair comparison</a:t>
            </a:r>
            <a:endParaRPr sz="1200">
              <a:solidFill>
                <a:srgbClr val="1A2B3C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37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Impact of training data with harder constraints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20" name="Google Shape;420;p37"/>
          <p:cNvSpPr txBox="1"/>
          <p:nvPr/>
        </p:nvSpPr>
        <p:spPr>
          <a:xfrm>
            <a:off x="458750" y="914425"/>
            <a:ext cx="76353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Goal: Preference trained models should show better gain.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21" name="Google Shape;4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800" y="1515075"/>
            <a:ext cx="3822192" cy="3044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50" y="1515100"/>
            <a:ext cx="3822192" cy="3044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8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38"/>
          <p:cNvSpPr txBox="1"/>
          <p:nvPr>
            <p:ph type="title"/>
          </p:nvPr>
        </p:nvSpPr>
        <p:spPr>
          <a:xfrm>
            <a:off x="310152" y="-1524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 sz="2489"/>
              <a:t>Key Takeaways</a:t>
            </a:r>
            <a:endParaRPr sz="2489"/>
          </a:p>
        </p:txBody>
      </p:sp>
      <p:sp>
        <p:nvSpPr>
          <p:cNvPr id="429" name="Google Shape;429;p38"/>
          <p:cNvSpPr/>
          <p:nvPr/>
        </p:nvSpPr>
        <p:spPr>
          <a:xfrm>
            <a:off x="532560" y="1190680"/>
            <a:ext cx="594300" cy="594300"/>
          </a:xfrm>
          <a:prstGeom prst="rect">
            <a:avLst/>
          </a:prstGeom>
          <a:solidFill>
            <a:srgbClr val="D8E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494935" y="2299980"/>
            <a:ext cx="594300" cy="594300"/>
          </a:xfrm>
          <a:prstGeom prst="rect">
            <a:avLst/>
          </a:prstGeom>
          <a:solidFill>
            <a:srgbClr val="D8E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492035" y="3735718"/>
            <a:ext cx="594300" cy="594300"/>
          </a:xfrm>
          <a:prstGeom prst="rect">
            <a:avLst/>
          </a:prstGeom>
          <a:solidFill>
            <a:srgbClr val="D8E5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1240100" y="1190675"/>
            <a:ext cx="74466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Strong base models can saturate simple constraint tasks</a:t>
            </a:r>
            <a:endParaRPr b="0" i="0" sz="18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1240100" y="1463525"/>
            <a:ext cx="70866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GPT-4.1-nano hits 98.25% all-pass with prompt engineering alone.</a:t>
            </a:r>
            <a:r>
              <a:rPr b="0" i="0" lang="en-US" sz="13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SFT and DPO had almost no headroom to improve, masking the methods’ differences.</a:t>
            </a:r>
            <a:endParaRPr b="0" i="0" sz="13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1202475" y="2248674"/>
            <a:ext cx="74466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Harder data reveals a trade-off: DPO improves constraint reasoning, SFT improves surface compliance</a:t>
            </a:r>
            <a:endParaRPr b="1" sz="1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1202475" y="2859591"/>
            <a:ext cx="72996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DPO increases constraint-following but slightly lowers all-pass rate, showing better handling of complex requirements; SFT raises all-pass rate mainly via ingredient compliance, with no real gain in deeper constraint reasoning.</a:t>
            </a:r>
            <a:endParaRPr b="0" i="0" sz="1300" u="none" cap="none" strike="noStrike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1199575" y="3644728"/>
            <a:ext cx="70866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 — scale data, tune preferences, and move to online RL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1204250" y="4022113"/>
            <a:ext cx="71583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SFT can benefit from more diverse and harder training data; DPO may improve with higher β to better enforce preferences; and a proper online RL / RFT setup can directly optimize for constraint-following</a:t>
            </a:r>
            <a:r>
              <a:rPr lang="en-US" sz="130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9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39"/>
          <p:cNvSpPr/>
          <p:nvPr/>
        </p:nvSpPr>
        <p:spPr>
          <a:xfrm>
            <a:off x="702900" y="1845900"/>
            <a:ext cx="77382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Thanks a latte for your time ! </a:t>
            </a:r>
            <a:endParaRPr b="1" sz="2800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800000"/>
                </a:solidFill>
                <a:latin typeface="Gill Sans"/>
                <a:ea typeface="Gill Sans"/>
                <a:cs typeface="Gill Sans"/>
                <a:sym typeface="Gill Sans"/>
              </a:rPr>
              <a:t>Questions?</a:t>
            </a:r>
            <a:endParaRPr i="0" sz="2800" u="none" cap="none" strike="noStrike">
              <a:solidFill>
                <a:srgbClr val="8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3">
      <a:dk1>
        <a:srgbClr val="00144D"/>
      </a:dk1>
      <a:lt1>
        <a:srgbClr val="FFFFFF"/>
      </a:lt1>
      <a:dk2>
        <a:srgbClr val="57000A"/>
      </a:dk2>
      <a:lt2>
        <a:srgbClr val="82AFD3"/>
      </a:lt2>
      <a:accent1>
        <a:srgbClr val="95001A"/>
      </a:accent1>
      <a:accent2>
        <a:srgbClr val="C0504D"/>
      </a:accent2>
      <a:accent3>
        <a:srgbClr val="045EA7"/>
      </a:accent3>
      <a:accent4>
        <a:srgbClr val="F2C100"/>
      </a:accent4>
      <a:accent5>
        <a:srgbClr val="00144D"/>
      </a:accent5>
      <a:accent6>
        <a:srgbClr val="44464B"/>
      </a:accent6>
      <a:hlink>
        <a:srgbClr val="00144D"/>
      </a:hlink>
      <a:folHlink>
        <a:srgbClr val="82AF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